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66" d="100"/>
          <a:sy n="66" d="100"/>
        </p:scale>
        <p:origin x="668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FF1CAA-AD92-935F-2E6B-D519FCA5E690}"/>
              </a:ext>
            </a:extLst>
          </p:cNvPr>
          <p:cNvSpPr txBox="1"/>
          <p:nvPr userDrawn="1"/>
        </p:nvSpPr>
        <p:spPr>
          <a:xfrm rot="19615775">
            <a:off x="843891" y="2697961"/>
            <a:ext cx="9806783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iSpark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3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8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0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3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8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8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2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9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9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1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096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89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5871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52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45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3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597E-DC42-6281-3A4B-A88D7A83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4C402-2250-6A34-C94B-02A3FE1D4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EBA38-3E6A-F3C3-89A7-EEACCD11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72BC9-1D6E-CE3F-94C7-BC815C36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5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001DC-BD0F-4B29-BC0E-33EE96816CF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23868E-BBE5-4091-AEDF-23AE52246C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F0CAA-92D3-AE60-6D23-8BAA895DCAFA}"/>
              </a:ext>
            </a:extLst>
          </p:cNvPr>
          <p:cNvSpPr txBox="1"/>
          <p:nvPr userDrawn="1"/>
        </p:nvSpPr>
        <p:spPr>
          <a:xfrm rot="19320265">
            <a:off x="1465568" y="2662022"/>
            <a:ext cx="9559636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iSpark</a:t>
            </a:r>
          </a:p>
        </p:txBody>
      </p:sp>
    </p:spTree>
    <p:extLst>
      <p:ext uri="{BB962C8B-B14F-4D97-AF65-F5344CB8AC3E}">
        <p14:creationId xmlns:p14="http://schemas.microsoft.com/office/powerpoint/2010/main" val="71717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3AE7-28C4-838E-4198-9E9C25FE9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767" y="790979"/>
            <a:ext cx="7912236" cy="1838578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ACCIDENT PREVENTION AND HELMET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0A979-74BF-5FBC-A617-B7E28270F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762563"/>
            <a:ext cx="7766936" cy="44275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iSpark Internship – Mandatory Training Program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F5DFB3-C2E8-F696-5F8E-93C07B9B1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016601"/>
              </p:ext>
            </p:extLst>
          </p:nvPr>
        </p:nvGraphicFramePr>
        <p:xfrm>
          <a:off x="409677" y="4289241"/>
          <a:ext cx="7633110" cy="2014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555">
                  <a:extLst>
                    <a:ext uri="{9D8B030D-6E8A-4147-A177-3AD203B41FA5}">
                      <a16:colId xmlns:a16="http://schemas.microsoft.com/office/drawing/2014/main" val="370379901"/>
                    </a:ext>
                  </a:extLst>
                </a:gridCol>
                <a:gridCol w="3816555">
                  <a:extLst>
                    <a:ext uri="{9D8B030D-6E8A-4147-A177-3AD203B41FA5}">
                      <a16:colId xmlns:a16="http://schemas.microsoft.com/office/drawing/2014/main" val="3436936135"/>
                    </a:ext>
                  </a:extLst>
                </a:gridCol>
              </a:tblGrid>
              <a:tr h="33578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HARSHIYA HASHIM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1AM22AI014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681138"/>
                  </a:ext>
                </a:extLst>
              </a:tr>
              <a:tr h="33578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KAYSAN MOHAMED ALFHAZ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4DM22EC023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264448"/>
                  </a:ext>
                </a:extLst>
              </a:tr>
              <a:tr h="33578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MOHAMMED CIYAF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4DM22EC028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877707"/>
                  </a:ext>
                </a:extLst>
              </a:tr>
              <a:tr h="33578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 JASVEER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4DM22EC027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78962"/>
                  </a:ext>
                </a:extLst>
              </a:tr>
              <a:tr h="33578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PUJITHA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1V122ME006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168034"/>
                  </a:ext>
                </a:extLst>
              </a:tr>
              <a:tr h="33578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SREYASREE R JOSHI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1KS22CM050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4952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D863B6-0B64-8B5F-B13B-8DD8114EE293}"/>
              </a:ext>
            </a:extLst>
          </p:cNvPr>
          <p:cNvSpPr txBox="1"/>
          <p:nvPr/>
        </p:nvSpPr>
        <p:spPr>
          <a:xfrm>
            <a:off x="409677" y="3889890"/>
            <a:ext cx="2992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MEAMBERS: </a:t>
            </a:r>
          </a:p>
        </p:txBody>
      </p:sp>
    </p:spTree>
    <p:extLst>
      <p:ext uri="{BB962C8B-B14F-4D97-AF65-F5344CB8AC3E}">
        <p14:creationId xmlns:p14="http://schemas.microsoft.com/office/powerpoint/2010/main" val="261878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160A-107D-4369-AAC7-3C821A1D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66" y="294968"/>
            <a:ext cx="8596668" cy="84557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0DB71-49F4-EB8B-FF8B-C27B9805B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708" y="1315015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accidents are a major cause of injuries and fatalities, especially in two-wheeler riders.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accidents occur due to lack of helmet usage, rider fatigue, and loss of control.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safety systems act after an accident occurs, not before.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Smart Accident Prevention System that actively monitors rider behavior and prevents unsafe conditions.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sensor-based monitoring and vision-based helmet detection to improve road safety.</a:t>
            </a:r>
          </a:p>
        </p:txBody>
      </p:sp>
    </p:spTree>
    <p:extLst>
      <p:ext uri="{BB962C8B-B14F-4D97-AF65-F5344CB8AC3E}">
        <p14:creationId xmlns:p14="http://schemas.microsoft.com/office/powerpoint/2010/main" val="390698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326C-8917-5148-5A49-FCF0340E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08" y="221226"/>
            <a:ext cx="8596668" cy="7423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4583D-23FC-AC1B-96B6-35798B7AE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94" y="1052051"/>
            <a:ext cx="5979105" cy="5142271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Riders often: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wear helmets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while drowsy or fatigued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Lose control due to sudden tilt or imbalance</a:t>
            </a:r>
          </a:p>
          <a:p>
            <a:pPr marL="457200" lvl="1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enforce helmet usage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real-time monitoring of rider condition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provide early warnings</a:t>
            </a:r>
          </a:p>
          <a:p>
            <a:pPr marL="457200" lvl="1" indent="0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vehicle ignition without helmet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unsafe riding conditions in real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Warns the rider before accidents occur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6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35B7-D934-A3D3-8065-9CFA3C29F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857" y="245806"/>
            <a:ext cx="8596668" cy="76691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8C9BB-E66D-E83F-5E57-0008E516C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037" y="1258529"/>
            <a:ext cx="8596668" cy="45720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Goal: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safety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reduces accident risk in two-wheelers.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whether the rider is wearing a helmet using a camera module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ignition if no helmet is detected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rider drowsiness using an IR sensor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sudden tilt or abnormal motion using MPU6050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immediate alerts using buzzer and LED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basic predictive logic to identify unsafe conditions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66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C0DA-8787-DEEC-8A2D-85D49E2B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22" y="264393"/>
            <a:ext cx="8596668" cy="8368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FB6AB-4EFF-2C70-FDF3-F1A9BA5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21" y="1272303"/>
            <a:ext cx="6539543" cy="4322252"/>
          </a:xfrm>
        </p:spPr>
        <p:txBody>
          <a:bodyPr>
            <a:normAutofit/>
          </a:bodyPr>
          <a:lstStyle/>
          <a:p>
            <a:r>
              <a:rPr lang="en-US" sz="2000" dirty="0"/>
              <a:t>Arduino Uno (main controller)</a:t>
            </a:r>
          </a:p>
          <a:p>
            <a:r>
              <a:rPr lang="en-US" sz="2000" dirty="0"/>
              <a:t>MPU6050 (accelerometer + gyroscope for tilt detection)</a:t>
            </a:r>
          </a:p>
          <a:p>
            <a:r>
              <a:rPr lang="en-US" sz="2000" dirty="0"/>
              <a:t>IR Sensor (for drowsiness detection)</a:t>
            </a:r>
          </a:p>
          <a:p>
            <a:r>
              <a:rPr lang="en-US" sz="2000" dirty="0"/>
              <a:t>ESP32-CAM (for helmet detection)</a:t>
            </a:r>
          </a:p>
          <a:p>
            <a:r>
              <a:rPr lang="en-US" sz="2000" dirty="0"/>
              <a:t>Relay Module (for ignition control)</a:t>
            </a:r>
          </a:p>
          <a:p>
            <a:r>
              <a:rPr lang="en-US" sz="2000" dirty="0"/>
              <a:t>Buzzer (audio alert)</a:t>
            </a:r>
          </a:p>
          <a:p>
            <a:r>
              <a:rPr lang="en-US" sz="2000" dirty="0"/>
              <a:t>LED (visual indication)</a:t>
            </a:r>
          </a:p>
          <a:p>
            <a:r>
              <a:rPr lang="en-US" sz="2000" dirty="0"/>
              <a:t>Breadboard and jumper wires</a:t>
            </a:r>
          </a:p>
          <a:p>
            <a:r>
              <a:rPr lang="en-US" sz="2000" dirty="0"/>
              <a:t>Power supply (USB / battery)</a:t>
            </a:r>
          </a:p>
        </p:txBody>
      </p:sp>
      <p:pic>
        <p:nvPicPr>
          <p:cNvPr id="2052" name="Picture 4" descr="Arduino Uno R3 DIP with Cable – The ...">
            <a:extLst>
              <a:ext uri="{FF2B5EF4-FFF2-40B4-BE49-F238E27FC236}">
                <a16:creationId xmlns:a16="http://schemas.microsoft.com/office/drawing/2014/main" id="{2B65C6BD-D0D3-FB82-34AA-3EFCF128A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112" y="389176"/>
            <a:ext cx="1197385" cy="142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PU6050 Sensor Module: Pinout and ...">
            <a:extLst>
              <a:ext uri="{FF2B5EF4-FFF2-40B4-BE49-F238E27FC236}">
                <a16:creationId xmlns:a16="http://schemas.microsoft.com/office/drawing/2014/main" id="{6A1AD44B-13E2-749A-A8FB-93F45FC5E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0" r="15883"/>
          <a:stretch/>
        </p:blipFill>
        <p:spPr bwMode="auto">
          <a:xfrm>
            <a:off x="7976112" y="1938033"/>
            <a:ext cx="1374365" cy="142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R Proximity Sensor Module – Infrared ...">
            <a:extLst>
              <a:ext uri="{FF2B5EF4-FFF2-40B4-BE49-F238E27FC236}">
                <a16:creationId xmlns:a16="http://schemas.microsoft.com/office/drawing/2014/main" id="{017CD46D-F297-AE48-511C-0F9705760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2" t="29951" r="9677" b="27345"/>
          <a:stretch/>
        </p:blipFill>
        <p:spPr bwMode="auto">
          <a:xfrm>
            <a:off x="7976112" y="3487664"/>
            <a:ext cx="1681316" cy="91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EBAC35-225F-796F-E0C8-6187AEAA5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112" y="4527650"/>
            <a:ext cx="1690373" cy="149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0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B272A-5EB8-70D7-A68F-1C1AD492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27" y="294968"/>
            <a:ext cx="7021325" cy="7669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1D6CB-4F46-060F-4789-42305837E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02" t="2549" r="16559" b="5695"/>
          <a:stretch/>
        </p:blipFill>
        <p:spPr>
          <a:xfrm>
            <a:off x="580103" y="1262173"/>
            <a:ext cx="6626942" cy="457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02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8A13-6303-26BD-316D-50B2CFF8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393291"/>
            <a:ext cx="8596668" cy="80624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17F29F1-FF9B-CB1B-CDEE-DB57FEDD63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311" y="1457873"/>
            <a:ext cx="7031191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IDE for programming microcontrollers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 board package (for ESP32-CAM support)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C / Arduino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Serial Monitor for debugging and calibration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MPU6050 library for motion sensing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 (I2C) library for sensor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526175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1AD6-92A5-D8CF-2A2F-DFDFFFDE7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70" y="235974"/>
            <a:ext cx="8596668" cy="73741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5FE19A-43AB-2282-2FE1-F7A6D9C4A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593"/>
          <a:stretch/>
        </p:blipFill>
        <p:spPr>
          <a:xfrm>
            <a:off x="636834" y="994889"/>
            <a:ext cx="4446443" cy="51236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7DE46D-A835-EB13-3654-6FA984691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358" y="994889"/>
            <a:ext cx="5011468" cy="23046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575D86A-243A-E2CC-DE71-5BF96A69C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357" y="3764919"/>
            <a:ext cx="5011469" cy="233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17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B595-9A84-412E-99AB-87B02E15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EA02-2751-5627-7904-3DF0EF6D8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70" y="235974"/>
            <a:ext cx="8596668" cy="73741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881966-7E21-C568-00E0-5F91BB6B7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924"/>
          <a:stretch/>
        </p:blipFill>
        <p:spPr>
          <a:xfrm>
            <a:off x="421696" y="1197037"/>
            <a:ext cx="4681537" cy="3385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4F2656-4520-85B8-0DE6-4844F14D0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90"/>
          <a:stretch/>
        </p:blipFill>
        <p:spPr>
          <a:xfrm>
            <a:off x="5621965" y="1197037"/>
            <a:ext cx="5030899" cy="338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1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8827-9A44-074F-4CF2-4B6DEC67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98" y="137652"/>
            <a:ext cx="8596668" cy="86523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8A697-B995-11FB-60A5-8233E341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98" y="884904"/>
            <a:ext cx="10079157" cy="5486399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Helmet Detection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processes visual input (or test mode signal)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digital signal to Arduino: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→ Helmet present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→ No helmet</a:t>
            </a:r>
          </a:p>
          <a:p>
            <a:pPr marL="914400" lvl="2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Drowsiness Detection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 detects eye closure using reflection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eye remains closed for &gt; 2 seconds → drowsiness detected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is filtered to avoid noise and false triggers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Motion/Tilt Detection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measures orientation and acceleration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angle calculated using trigonometric functions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angle exceeds threshold → unstable condition</a:t>
            </a:r>
          </a:p>
        </p:txBody>
      </p:sp>
    </p:spTree>
    <p:extLst>
      <p:ext uri="{BB962C8B-B14F-4D97-AF65-F5344CB8AC3E}">
        <p14:creationId xmlns:p14="http://schemas.microsoft.com/office/powerpoint/2010/main" val="284772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188F5-3E21-5D6F-39FA-0F060B9B2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34" y="1002891"/>
            <a:ext cx="5435019" cy="507133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Signal Processing &amp; Decision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acts as central controller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inputs from: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signal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hierarchy:</a:t>
            </a:r>
          </a:p>
          <a:p>
            <a:pPr lvl="2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helmet → block ignition </a:t>
            </a:r>
          </a:p>
          <a:p>
            <a:pPr lvl="2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(drowsy + tilt) → emergency state </a:t>
            </a:r>
          </a:p>
          <a:p>
            <a:pPr lvl="2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→ accident detection </a:t>
            </a:r>
          </a:p>
          <a:p>
            <a:pPr lvl="2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Drowsiness → warning </a:t>
            </a:r>
          </a:p>
          <a:p>
            <a:pPr lvl="2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→ normal operation 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2AF5F2-6711-1A4B-02EE-2C207230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98" y="137652"/>
            <a:ext cx="8596668" cy="86523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E22F6-72B3-4634-0506-0B2528BDAEE3}"/>
              </a:ext>
            </a:extLst>
          </p:cNvPr>
          <p:cNvSpPr txBox="1"/>
          <p:nvPr/>
        </p:nvSpPr>
        <p:spPr>
          <a:xfrm>
            <a:off x="5827217" y="660806"/>
            <a:ext cx="4365522" cy="5536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82880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Output &amp; Actuation</a:t>
            </a:r>
          </a:p>
          <a:p>
            <a:pPr marL="182880" lvl="1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controls ignition (ON/OFF)</a:t>
            </a:r>
          </a:p>
          <a:p>
            <a:pPr marL="182880" lvl="1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provides audio alerts: </a:t>
            </a:r>
          </a:p>
          <a:p>
            <a:pPr marL="640080" lvl="2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→ no helmet</a:t>
            </a:r>
          </a:p>
          <a:p>
            <a:pPr marL="640080" lvl="2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→ accident/high risk</a:t>
            </a:r>
          </a:p>
          <a:p>
            <a:pPr marL="640080" lvl="2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→ drowsiness</a:t>
            </a:r>
          </a:p>
          <a:p>
            <a:pPr marL="182880" lvl="1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provides visual indication</a:t>
            </a:r>
          </a:p>
          <a:p>
            <a:pPr marL="182880" lvl="1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System Architecture</a:t>
            </a:r>
          </a:p>
          <a:p>
            <a:pPr marL="182880" lvl="1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→ vision/input module</a:t>
            </a:r>
          </a:p>
          <a:p>
            <a:pPr marL="182880" lvl="1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→ processing &amp; control unit</a:t>
            </a:r>
          </a:p>
          <a:p>
            <a:pPr marL="182880" lvl="1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→ power switching unit</a:t>
            </a:r>
          </a:p>
          <a:p>
            <a:pPr marL="182880" lvl="1" indent="-285750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→ real-time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154541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A3FE-BE97-3A40-96EF-4D9BBE60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72" y="198412"/>
            <a:ext cx="8596668" cy="71886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26A0F-3185-5534-99A4-51EB9D8DE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31218" y="239400"/>
            <a:ext cx="5088757" cy="678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1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2656-B105-1E24-9D6A-ABFFE843D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8" y="175936"/>
            <a:ext cx="8723496" cy="6407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D9DB204-77E7-40AE-26E0-1A46A67B77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678" y="1077806"/>
            <a:ext cx="8804113" cy="3545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AI-based helmet detection using ESP32-CAM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GPS for accident location tracking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GSM module for emergency alerts and messaging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monitoring rider status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logging for rider behavior analysis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helmets and IoT platforms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for predictive accident analysis </a:t>
            </a:r>
          </a:p>
        </p:txBody>
      </p:sp>
    </p:spTree>
    <p:extLst>
      <p:ext uri="{BB962C8B-B14F-4D97-AF65-F5344CB8AC3E}">
        <p14:creationId xmlns:p14="http://schemas.microsoft.com/office/powerpoint/2010/main" val="4086211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AC79-9432-6323-C579-224AF550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32" y="245706"/>
            <a:ext cx="8596668" cy="75266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ADVANTAGES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546ABA2-1EEC-C814-EDFE-19B915E1C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071" y="1278183"/>
            <a:ext cx="8681389" cy="262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unsafe riding conditions proactively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easily deployable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response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and scalable design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rider safety without complex infrastructure </a:t>
            </a:r>
          </a:p>
        </p:txBody>
      </p:sp>
    </p:spTree>
    <p:extLst>
      <p:ext uri="{BB962C8B-B14F-4D97-AF65-F5344CB8AC3E}">
        <p14:creationId xmlns:p14="http://schemas.microsoft.com/office/powerpoint/2010/main" val="3942666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dobe Stock">
            <a:extLst>
              <a:ext uri="{FF2B5EF4-FFF2-40B4-BE49-F238E27FC236}">
                <a16:creationId xmlns:a16="http://schemas.microsoft.com/office/drawing/2014/main" id="{54AFC4C5-18DA-E81F-220A-6ED67AC8A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347" y="1511560"/>
            <a:ext cx="6642505" cy="373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4328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635</Words>
  <Application>Microsoft Office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Times New Roman</vt:lpstr>
      <vt:lpstr>Trebuchet MS</vt:lpstr>
      <vt:lpstr>Wingdings</vt:lpstr>
      <vt:lpstr>Wingdings 3</vt:lpstr>
      <vt:lpstr>Facet</vt:lpstr>
      <vt:lpstr>SMART ACCIDENT PREVENTION AND HELMET DETECTION</vt:lpstr>
      <vt:lpstr>INTRODUCTION</vt:lpstr>
      <vt:lpstr>PROBLEM STATEMENT</vt:lpstr>
      <vt:lpstr>GOALS AND OBJECTIVES</vt:lpstr>
      <vt:lpstr>HARDWARE REQUIREMENTS </vt:lpstr>
      <vt:lpstr>HARDWARE REQUIREMENTS </vt:lpstr>
      <vt:lpstr>SOFTWARE REQUIREMENTS</vt:lpstr>
      <vt:lpstr>SOFTWARE REQUIREMENTS</vt:lpstr>
      <vt:lpstr>SOFTWARE REQUIREMENTS</vt:lpstr>
      <vt:lpstr>METHODOLOGY</vt:lpstr>
      <vt:lpstr>METHODOLOGY</vt:lpstr>
      <vt:lpstr>RESULT</vt:lpstr>
      <vt:lpstr>FUTURE ENHANCEMENTS</vt:lpstr>
      <vt:lpstr>SYSTEM ADVANTAGES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Sreyasree R Joshi</dc:creator>
  <cp:lastModifiedBy>pujitha a</cp:lastModifiedBy>
  <cp:revision>5</cp:revision>
  <dcterms:created xsi:type="dcterms:W3CDTF">2026-04-09T04:43:56Z</dcterms:created>
  <dcterms:modified xsi:type="dcterms:W3CDTF">2026-04-10T05:18:23Z</dcterms:modified>
</cp:coreProperties>
</file>